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642A-74B7-6EF3-3305-63E1DB882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D5EE9-1194-BE22-7AC1-A357FAC4A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DEAA9-BFF2-4C5D-BD4A-07B6E371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6F923-C3E1-6547-0BA3-FB80CC25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F2C0A-9F07-9868-783E-CBC31A50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316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597E-45C7-57AE-AA10-30E6303E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5E12-3CFC-8DA7-0E2C-C7651E728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01CC2-D693-24DC-249E-1FC71712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6853A-C74E-4E8D-8A94-A0815358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DD202-1D06-0AD0-4375-11ED6176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504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710E-8FA1-B0FE-C67C-644C7D60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BC62-4A6E-F0A4-9CB8-DC683EE8A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B1BAF-B478-1F41-F67B-157C206A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33910-96CE-5E82-B977-01BD4786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0B671-8C0E-6F40-A45D-F2E4ECC9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68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71F2-0937-C0CB-A41E-6D6589EC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E31F-F710-6AE6-4FE0-664FFD2F7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9AD0B-79F5-BD55-8CE8-B03CAE520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6524E-5C9A-71BE-E365-409ABB08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ABB77-D2A2-0931-A93B-7CB27B09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F0000-8585-8CC3-07E5-C3884605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982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921E-663D-4EDF-BE19-7351A5FF7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485B6-C2EB-0DDD-3B02-D6BB8BCD6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CF100-805D-8445-0CB9-97E1EEF14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BB439-8030-1EE1-0E9D-971F0F7B4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7E027-A457-A4AB-A5C1-FEA156716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3DAD49-C4BF-70A8-7492-612D3D0C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C6053-DAE0-0C2D-012B-4EBC9997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0DD50-3264-7570-E4CF-5D503571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757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4E69-1B72-C365-9C97-28941969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5DF74-FB84-9EB8-3BCA-D879645D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F6B57-7C61-E123-C68F-91CC9D291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1D6C1-15FB-2F5F-3DDF-B6FB8A82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85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E0806-0F7F-F268-4296-5980C0D9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FDBD9-CFEF-269D-E5E0-C7CB8760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5A817-4AE0-74A5-E9D0-AC90558A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435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5C0E-0AF7-8C76-7005-63485BBE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2666-D9F5-E402-5063-BA5444AAA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523ED-B0A7-B361-1577-742C54B88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4A116-BDA5-09ED-9874-0BF4B804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28989-8722-5BCB-A6A0-08C1C7E1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C860F-A976-6418-B23A-C98471EC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520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B401-D13E-E69A-13CE-64D4768C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445C8-5656-AD4B-35CC-0ECD8D24F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279AE-957C-047C-A381-E712F9A74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7A8B3-B7BC-3F81-4E30-262262AA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6C710-9151-987E-0115-9FCC74D4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64A45-66DB-424F-9B5E-59F0B1AE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0292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A679-B29C-254B-B45B-EDB81BDA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6FC9C-C074-FFBE-A05B-9C3CACCA2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8D8F8-F3AD-AEB0-ADC9-223C673D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88AB2-B83E-6873-2A03-59F9AE34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A94AC-7759-7AB1-1DC8-FF2C139D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35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88F14-3C25-80D1-8E26-606BA95A7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5DD00-E3B8-CBC3-6DFE-7A8CAEA5F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55040-6B3E-0B73-F92E-9F58A40A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9C070-7BBC-958D-2D0B-7380B4D8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98D9D-A901-EAAE-EF1B-9D8A650E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4059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287F5A-B1DA-B7DB-29CA-294FFEE7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BD6BA-C6EC-6B07-2F58-BC9696174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039F8-4E04-B22A-A7D0-2E0085FBC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41B34-50E5-43A6-AC67-E8CD370EBD45}" type="datetimeFigureOut">
              <a:rPr lang="en-PH" smtClean="0"/>
              <a:t>10/02/2026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0163-26D7-E6FB-FE22-DB905CCC2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C4AE4-4344-5F1A-AF48-CC06C2B5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4F44D-7C63-41E4-B861-E01BD688E4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151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sv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72D3E9C-A18B-A255-EF32-5214A1CDCD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AC88A5-276A-4E99-906C-47FBD0F5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PH" b="1" dirty="0">
                <a:latin typeface="+mn-lt"/>
              </a:rPr>
              <a:t>Fieldwork Processing</a:t>
            </a:r>
          </a:p>
        </p:txBody>
      </p:sp>
    </p:spTree>
    <p:extLst>
      <p:ext uri="{BB962C8B-B14F-4D97-AF65-F5344CB8AC3E}">
        <p14:creationId xmlns:p14="http://schemas.microsoft.com/office/powerpoint/2010/main" val="78766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D9BA-42A3-9B04-B64B-44623F35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3B9EB2-F478-2B94-327A-AAF9A979B549}"/>
              </a:ext>
            </a:extLst>
          </p:cNvPr>
          <p:cNvSpPr/>
          <p:nvPr/>
        </p:nvSpPr>
        <p:spPr>
          <a:xfrm>
            <a:off x="0" y="0"/>
            <a:ext cx="12192000" cy="131752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B5831-4B4B-AD96-03CE-D2860C8CCC55}"/>
              </a:ext>
            </a:extLst>
          </p:cNvPr>
          <p:cNvSpPr txBox="1"/>
          <p:nvPr/>
        </p:nvSpPr>
        <p:spPr>
          <a:xfrm>
            <a:off x="766917" y="304818"/>
            <a:ext cx="2969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Outline</a:t>
            </a:r>
            <a:endParaRPr lang="en-PH" sz="4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4F3607-3022-F0D0-89FC-67A8F1FB57D5}"/>
              </a:ext>
            </a:extLst>
          </p:cNvPr>
          <p:cNvGrpSpPr/>
          <p:nvPr/>
        </p:nvGrpSpPr>
        <p:grpSpPr>
          <a:xfrm>
            <a:off x="832041" y="2519592"/>
            <a:ext cx="1800000" cy="1440000"/>
            <a:chOff x="1545273" y="2492160"/>
            <a:chExt cx="1800000" cy="14400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6A31239-6E17-B16B-5A04-972F4907ED9A}"/>
                </a:ext>
              </a:extLst>
            </p:cNvPr>
            <p:cNvSpPr/>
            <p:nvPr/>
          </p:nvSpPr>
          <p:spPr>
            <a:xfrm>
              <a:off x="1545273" y="2492160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2" name="Graphic 11" descr="Video camera with solid fill">
              <a:extLst>
                <a:ext uri="{FF2B5EF4-FFF2-40B4-BE49-F238E27FC236}">
                  <a16:creationId xmlns:a16="http://schemas.microsoft.com/office/drawing/2014/main" id="{199A810D-9229-29B4-4A3A-91583F25F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05273" y="2672160"/>
              <a:ext cx="1080000" cy="1080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D3D584-2A32-160F-221A-6437C912CE1B}"/>
              </a:ext>
            </a:extLst>
          </p:cNvPr>
          <p:cNvGrpSpPr/>
          <p:nvPr/>
        </p:nvGrpSpPr>
        <p:grpSpPr>
          <a:xfrm>
            <a:off x="3573624" y="2519592"/>
            <a:ext cx="1800000" cy="1440000"/>
            <a:chOff x="4296000" y="2492160"/>
            <a:chExt cx="1800000" cy="144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0927EA5-FF35-3228-7F57-45600B1B5D60}"/>
                </a:ext>
              </a:extLst>
            </p:cNvPr>
            <p:cNvSpPr/>
            <p:nvPr/>
          </p:nvSpPr>
          <p:spPr>
            <a:xfrm>
              <a:off x="4296000" y="2492160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5" name="Graphic 14" descr="Camera with solid fill">
              <a:extLst>
                <a:ext uri="{FF2B5EF4-FFF2-40B4-BE49-F238E27FC236}">
                  <a16:creationId xmlns:a16="http://schemas.microsoft.com/office/drawing/2014/main" id="{ECF188D5-A9C5-7B47-155B-07462F562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04096" y="2674776"/>
              <a:ext cx="1080000" cy="1080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C7C2B6-C458-F513-B1F5-2912436D0EBD}"/>
              </a:ext>
            </a:extLst>
          </p:cNvPr>
          <p:cNvGrpSpPr/>
          <p:nvPr/>
        </p:nvGrpSpPr>
        <p:grpSpPr>
          <a:xfrm>
            <a:off x="6315207" y="2519592"/>
            <a:ext cx="1800000" cy="1440000"/>
            <a:chOff x="7046727" y="2492160"/>
            <a:chExt cx="1800000" cy="14400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22A8A44-6A70-6296-E689-B2DCB68E38C5}"/>
                </a:ext>
              </a:extLst>
            </p:cNvPr>
            <p:cNvSpPr/>
            <p:nvPr/>
          </p:nvSpPr>
          <p:spPr>
            <a:xfrm>
              <a:off x="7046727" y="2492160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8" name="Graphic 17" descr="Marker with solid fill">
              <a:extLst>
                <a:ext uri="{FF2B5EF4-FFF2-40B4-BE49-F238E27FC236}">
                  <a16:creationId xmlns:a16="http://schemas.microsoft.com/office/drawing/2014/main" id="{93129475-AB22-83D7-65FA-A592F999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06727" y="2626440"/>
              <a:ext cx="1080000" cy="1080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55968A-D277-EDCB-7A5B-192074A0F868}"/>
              </a:ext>
            </a:extLst>
          </p:cNvPr>
          <p:cNvGrpSpPr/>
          <p:nvPr/>
        </p:nvGrpSpPr>
        <p:grpSpPr>
          <a:xfrm>
            <a:off x="9056790" y="2519592"/>
            <a:ext cx="1800000" cy="1440000"/>
            <a:chOff x="4576416" y="4528224"/>
            <a:chExt cx="1800000" cy="14400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2F7012F-0203-3CE5-27BB-7F2C51273B26}"/>
                </a:ext>
              </a:extLst>
            </p:cNvPr>
            <p:cNvSpPr/>
            <p:nvPr/>
          </p:nvSpPr>
          <p:spPr>
            <a:xfrm>
              <a:off x="4576416" y="4528224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21" name="Graphic 20" descr="Artificial Intelligence with solid fill">
              <a:extLst>
                <a:ext uri="{FF2B5EF4-FFF2-40B4-BE49-F238E27FC236}">
                  <a16:creationId xmlns:a16="http://schemas.microsoft.com/office/drawing/2014/main" id="{C603802A-8480-9CD5-C9E3-93EB9F76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016000" y="4708224"/>
              <a:ext cx="1080000" cy="108000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AE96255-CC3F-6639-920A-EC6FEB9FC5C8}"/>
              </a:ext>
            </a:extLst>
          </p:cNvPr>
          <p:cNvSpPr txBox="1"/>
          <p:nvPr/>
        </p:nvSpPr>
        <p:spPr>
          <a:xfrm>
            <a:off x="693596" y="4139592"/>
            <a:ext cx="2214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VIDEO CONCATENATION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F729ED-7891-F4D2-D825-7F31FB9BE215}"/>
              </a:ext>
            </a:extLst>
          </p:cNvPr>
          <p:cNvSpPr txBox="1"/>
          <p:nvPr/>
        </p:nvSpPr>
        <p:spPr>
          <a:xfrm>
            <a:off x="3366526" y="4139592"/>
            <a:ext cx="2214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FRAME EXTRACTION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8FA781-33F3-9784-2E63-AE8A8C1ED43F}"/>
              </a:ext>
            </a:extLst>
          </p:cNvPr>
          <p:cNvSpPr txBox="1"/>
          <p:nvPr/>
        </p:nvSpPr>
        <p:spPr>
          <a:xfrm>
            <a:off x="6176948" y="4139592"/>
            <a:ext cx="22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GEOTAGGING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CA725E-B7CC-AD2B-06CC-8B7F6A268CE5}"/>
              </a:ext>
            </a:extLst>
          </p:cNvPr>
          <p:cNvSpPr txBox="1"/>
          <p:nvPr/>
        </p:nvSpPr>
        <p:spPr>
          <a:xfrm>
            <a:off x="8964267" y="4139591"/>
            <a:ext cx="22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78078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EE0E-7758-54AF-8DBB-676F32DB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38CA0F-9717-ABEC-B836-679AAA81B723}"/>
              </a:ext>
            </a:extLst>
          </p:cNvPr>
          <p:cNvGrpSpPr/>
          <p:nvPr/>
        </p:nvGrpSpPr>
        <p:grpSpPr>
          <a:xfrm>
            <a:off x="449264" y="357026"/>
            <a:ext cx="1800000" cy="1440000"/>
            <a:chOff x="1545273" y="2492160"/>
            <a:chExt cx="1800000" cy="1440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18E6E7-F15B-4C56-74F3-0E1F9C180EC7}"/>
                </a:ext>
              </a:extLst>
            </p:cNvPr>
            <p:cNvSpPr/>
            <p:nvPr/>
          </p:nvSpPr>
          <p:spPr>
            <a:xfrm>
              <a:off x="1545273" y="2492160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8" name="Graphic 7" descr="Video camera with solid fill">
              <a:extLst>
                <a:ext uri="{FF2B5EF4-FFF2-40B4-BE49-F238E27FC236}">
                  <a16:creationId xmlns:a16="http://schemas.microsoft.com/office/drawing/2014/main" id="{10858717-FEBE-8831-7E3B-FA2FB2B99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05273" y="2672160"/>
              <a:ext cx="1080000" cy="1080000"/>
            </a:xfrm>
            <a:prstGeom prst="rect">
              <a:avLst/>
            </a:prstGeom>
          </p:spPr>
        </p:pic>
      </p:grp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F885326C-66A3-3301-BC13-A42E4A0E0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3D548D-1E87-F9A5-355D-35D3B45AE57E}"/>
              </a:ext>
            </a:extLst>
          </p:cNvPr>
          <p:cNvSpPr txBox="1"/>
          <p:nvPr/>
        </p:nvSpPr>
        <p:spPr>
          <a:xfrm>
            <a:off x="2429264" y="339308"/>
            <a:ext cx="35600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VIDEO</a:t>
            </a:r>
          </a:p>
          <a:p>
            <a:r>
              <a:rPr lang="en-PH" sz="3200" b="1" dirty="0"/>
              <a:t>CONCATENATION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6737F0-D476-D1B2-7655-6A7232D9C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23" y="2239852"/>
            <a:ext cx="5892941" cy="4288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F739FA-9BD6-CACA-F839-F3798523EA46}"/>
              </a:ext>
            </a:extLst>
          </p:cNvPr>
          <p:cNvSpPr txBox="1"/>
          <p:nvPr/>
        </p:nvSpPr>
        <p:spPr>
          <a:xfrm>
            <a:off x="7353299" y="2337950"/>
            <a:ext cx="442574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chemeClr val="accent6">
                    <a:lumMod val="50000"/>
                  </a:schemeClr>
                </a:solidFill>
              </a:rPr>
              <a:t>Concatenate GoPro Video using python script. GoPro uses this </a:t>
            </a:r>
            <a:r>
              <a:rPr lang="en-PH" sz="2800" dirty="0" err="1">
                <a:solidFill>
                  <a:schemeClr val="accent6">
                    <a:lumMod val="50000"/>
                  </a:schemeClr>
                </a:solidFill>
              </a:rPr>
              <a:t>filenaming</a:t>
            </a:r>
            <a:r>
              <a:rPr lang="en-PH" sz="2800" dirty="0">
                <a:solidFill>
                  <a:schemeClr val="accent6">
                    <a:lumMod val="50000"/>
                  </a:schemeClr>
                </a:solidFill>
              </a:rPr>
              <a:t> convention: </a:t>
            </a:r>
          </a:p>
          <a:p>
            <a:endParaRPr lang="en-PH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PH" b="1" dirty="0">
                <a:solidFill>
                  <a:srgbClr val="275317"/>
                </a:solidFill>
              </a:rPr>
              <a:t>GHzzxxxx.mp4</a:t>
            </a:r>
            <a:br>
              <a:rPr lang="en-PH" b="1" dirty="0">
                <a:solidFill>
                  <a:srgbClr val="275317"/>
                </a:solidFill>
              </a:rPr>
            </a:br>
            <a:r>
              <a:rPr lang="en-PH" b="1" dirty="0">
                <a:solidFill>
                  <a:srgbClr val="275317"/>
                </a:solidFill>
              </a:rPr>
              <a:t>GXzzxxxx.mp4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rgbClr val="275317"/>
                </a:solidFill>
              </a:rPr>
              <a:t>“H” = AVC encoding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rgbClr val="275317"/>
                </a:solidFill>
              </a:rPr>
              <a:t>“X” = HEVC encoding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rgbClr val="275317"/>
                </a:solidFill>
              </a:rPr>
              <a:t>‘</a:t>
            </a:r>
            <a:r>
              <a:rPr lang="en-PH" sz="1600" dirty="0" err="1">
                <a:solidFill>
                  <a:srgbClr val="275317"/>
                </a:solidFill>
              </a:rPr>
              <a:t>xxxx</a:t>
            </a:r>
            <a:r>
              <a:rPr lang="en-PH" sz="1600" dirty="0">
                <a:solidFill>
                  <a:srgbClr val="275317"/>
                </a:solidFill>
              </a:rPr>
              <a:t>’ = file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sz="1600" dirty="0">
                <a:solidFill>
                  <a:srgbClr val="275317"/>
                </a:solidFill>
              </a:rPr>
              <a:t>‘</a:t>
            </a:r>
            <a:r>
              <a:rPr lang="en-PH" sz="1600" dirty="0" err="1">
                <a:solidFill>
                  <a:srgbClr val="275317"/>
                </a:solidFill>
              </a:rPr>
              <a:t>zz</a:t>
            </a:r>
            <a:r>
              <a:rPr lang="en-PH" sz="1600" dirty="0">
                <a:solidFill>
                  <a:srgbClr val="275317"/>
                </a:solidFill>
              </a:rPr>
              <a:t>’ = chapter number</a:t>
            </a:r>
          </a:p>
          <a:p>
            <a:endParaRPr lang="en-PH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0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F30C6-12B4-0707-82B7-4B89A3BC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3AA57D-FBEE-159D-93D0-F650482D8A94}"/>
              </a:ext>
            </a:extLst>
          </p:cNvPr>
          <p:cNvGrpSpPr/>
          <p:nvPr/>
        </p:nvGrpSpPr>
        <p:grpSpPr>
          <a:xfrm>
            <a:off x="449264" y="357026"/>
            <a:ext cx="1800000" cy="1440000"/>
            <a:chOff x="4296000" y="2492160"/>
            <a:chExt cx="1800000" cy="144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7BD946-9ADE-363C-BDDB-6ADCB96D47A9}"/>
                </a:ext>
              </a:extLst>
            </p:cNvPr>
            <p:cNvSpPr/>
            <p:nvPr/>
          </p:nvSpPr>
          <p:spPr>
            <a:xfrm>
              <a:off x="4296000" y="2492160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4" name="Graphic 13" descr="Camera with solid fill">
              <a:extLst>
                <a:ext uri="{FF2B5EF4-FFF2-40B4-BE49-F238E27FC236}">
                  <a16:creationId xmlns:a16="http://schemas.microsoft.com/office/drawing/2014/main" id="{A2939AAB-D8FF-9A03-9016-1E322DBE6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04096" y="2674776"/>
              <a:ext cx="1080000" cy="1080000"/>
            </a:xfrm>
            <a:prstGeom prst="rect">
              <a:avLst/>
            </a:prstGeom>
          </p:spPr>
        </p:pic>
      </p:grp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196B367B-DD67-B5C0-94E6-1E0F2410F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59CEE-6B28-E3B0-0BBC-99A24169413C}"/>
              </a:ext>
            </a:extLst>
          </p:cNvPr>
          <p:cNvSpPr txBox="1"/>
          <p:nvPr/>
        </p:nvSpPr>
        <p:spPr>
          <a:xfrm>
            <a:off x="2429264" y="339308"/>
            <a:ext cx="35600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FRAME</a:t>
            </a:r>
          </a:p>
          <a:p>
            <a:r>
              <a:rPr lang="en-PH" sz="3200" b="1" dirty="0"/>
              <a:t>EXTRACTION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08040-B286-A727-517E-938D42524973}"/>
              </a:ext>
            </a:extLst>
          </p:cNvPr>
          <p:cNvSpPr txBox="1"/>
          <p:nvPr/>
        </p:nvSpPr>
        <p:spPr>
          <a:xfrm>
            <a:off x="7353299" y="2337950"/>
            <a:ext cx="44257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chemeClr val="accent6">
                    <a:lumMod val="50000"/>
                  </a:schemeClr>
                </a:solidFill>
              </a:rPr>
              <a:t>Frames are then extracted from the concatenated video using python script. The date and time of photos will serve as the filename.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62256D-6148-55EF-B7C5-A0E78A702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71" y="2198692"/>
            <a:ext cx="595244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7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F7AF-8113-4BFA-CA0D-16CCEE75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E8D48B-2FC3-43FA-32F5-2F1D30BFD0A9}"/>
              </a:ext>
            </a:extLst>
          </p:cNvPr>
          <p:cNvGrpSpPr/>
          <p:nvPr/>
        </p:nvGrpSpPr>
        <p:grpSpPr>
          <a:xfrm>
            <a:off x="449264" y="357026"/>
            <a:ext cx="1800000" cy="1440000"/>
            <a:chOff x="4296000" y="2492160"/>
            <a:chExt cx="1800000" cy="144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76F6B14-5A0B-2ECC-1F08-C04FE7E4A1C5}"/>
                </a:ext>
              </a:extLst>
            </p:cNvPr>
            <p:cNvSpPr/>
            <p:nvPr/>
          </p:nvSpPr>
          <p:spPr>
            <a:xfrm>
              <a:off x="4296000" y="2492160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4" name="Graphic 13" descr="Camera with solid fill">
              <a:extLst>
                <a:ext uri="{FF2B5EF4-FFF2-40B4-BE49-F238E27FC236}">
                  <a16:creationId xmlns:a16="http://schemas.microsoft.com/office/drawing/2014/main" id="{31FC59E1-05FB-D942-270C-41B5CB4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04096" y="2674776"/>
              <a:ext cx="1080000" cy="1080000"/>
            </a:xfrm>
            <a:prstGeom prst="rect">
              <a:avLst/>
            </a:prstGeom>
          </p:spPr>
        </p:pic>
      </p:grp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DEED7F90-C78D-4653-43E4-3F77DF372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27DD4C-CCCA-EFB7-715C-43929E63F3D4}"/>
              </a:ext>
            </a:extLst>
          </p:cNvPr>
          <p:cNvSpPr txBox="1"/>
          <p:nvPr/>
        </p:nvSpPr>
        <p:spPr>
          <a:xfrm>
            <a:off x="2429264" y="339308"/>
            <a:ext cx="35600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FRAME</a:t>
            </a:r>
          </a:p>
          <a:p>
            <a:r>
              <a:rPr lang="en-PH" sz="3200" b="1" dirty="0"/>
              <a:t>EXTRACTION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5C383-DFA6-5079-7C6E-D0A4CFBFC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7360" y="2167687"/>
            <a:ext cx="8599697" cy="4351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6E726F-DA67-17EE-1B83-7B223F40C6D0}"/>
              </a:ext>
            </a:extLst>
          </p:cNvPr>
          <p:cNvSpPr txBox="1"/>
          <p:nvPr/>
        </p:nvSpPr>
        <p:spPr>
          <a:xfrm>
            <a:off x="4377676" y="3844948"/>
            <a:ext cx="4153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EXTRACTED FRAMES</a:t>
            </a:r>
          </a:p>
        </p:txBody>
      </p:sp>
    </p:spTree>
    <p:extLst>
      <p:ext uri="{BB962C8B-B14F-4D97-AF65-F5344CB8AC3E}">
        <p14:creationId xmlns:p14="http://schemas.microsoft.com/office/powerpoint/2010/main" val="276023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9498-4A29-B8FC-333C-70FB1641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2A013C-7C9F-E4CF-253B-8BA5F43E5753}"/>
              </a:ext>
            </a:extLst>
          </p:cNvPr>
          <p:cNvSpPr/>
          <p:nvPr/>
        </p:nvSpPr>
        <p:spPr>
          <a:xfrm>
            <a:off x="449264" y="357026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32616101-5372-0B53-DD52-9A60A9926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DB4312-C384-01BF-1924-733C49732983}"/>
              </a:ext>
            </a:extLst>
          </p:cNvPr>
          <p:cNvSpPr txBox="1"/>
          <p:nvPr/>
        </p:nvSpPr>
        <p:spPr>
          <a:xfrm>
            <a:off x="2429264" y="339308"/>
            <a:ext cx="356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GEOTAGGING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52EB3-A5E2-341B-9F9E-9CF0F10AA43A}"/>
              </a:ext>
            </a:extLst>
          </p:cNvPr>
          <p:cNvSpPr txBox="1"/>
          <p:nvPr/>
        </p:nvSpPr>
        <p:spPr>
          <a:xfrm>
            <a:off x="7353299" y="2337950"/>
            <a:ext cx="44257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chemeClr val="accent6">
                    <a:lumMod val="50000"/>
                  </a:schemeClr>
                </a:solidFill>
              </a:rPr>
              <a:t>Extracted frames are then geotagged using the bathymetry data from echosounder. </a:t>
            </a:r>
          </a:p>
        </p:txBody>
      </p:sp>
      <p:pic>
        <p:nvPicPr>
          <p:cNvPr id="2" name="Graphic 1" descr="Marker with solid fill">
            <a:extLst>
              <a:ext uri="{FF2B5EF4-FFF2-40B4-BE49-F238E27FC236}">
                <a16:creationId xmlns:a16="http://schemas.microsoft.com/office/drawing/2014/main" id="{E123E7D0-C8AB-BFB3-BCBC-317106EAEE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64" y="537026"/>
            <a:ext cx="1080000" cy="10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2E90F3-DE7D-1173-BE86-2E6750C74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64" y="2198692"/>
            <a:ext cx="591027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77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B1AF7-8B74-7074-85B0-12BE1781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02A039-588C-B78C-5D02-971A09D15B7D}"/>
              </a:ext>
            </a:extLst>
          </p:cNvPr>
          <p:cNvSpPr/>
          <p:nvPr/>
        </p:nvSpPr>
        <p:spPr>
          <a:xfrm>
            <a:off x="449264" y="357026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7970A2D8-796B-D15B-41F8-1988B66D6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FD9E43-E67F-E020-8767-0847D314A6C2}"/>
              </a:ext>
            </a:extLst>
          </p:cNvPr>
          <p:cNvSpPr txBox="1"/>
          <p:nvPr/>
        </p:nvSpPr>
        <p:spPr>
          <a:xfrm>
            <a:off x="2429264" y="339308"/>
            <a:ext cx="356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GEOTAGGING</a:t>
            </a:r>
          </a:p>
        </p:txBody>
      </p:sp>
      <p:pic>
        <p:nvPicPr>
          <p:cNvPr id="2" name="Graphic 1" descr="Marker with solid fill">
            <a:extLst>
              <a:ext uri="{FF2B5EF4-FFF2-40B4-BE49-F238E27FC236}">
                <a16:creationId xmlns:a16="http://schemas.microsoft.com/office/drawing/2014/main" id="{3197F37A-F289-4892-CAA4-97B4AF1C0E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64" y="537026"/>
            <a:ext cx="1080000" cy="10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F3072-B5F2-B2A2-824A-C14CD25182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44" y="2207132"/>
            <a:ext cx="5553456" cy="31238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A58DF0-D63C-FF5B-B223-4CCA4C243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6095" y="2907747"/>
            <a:ext cx="3109905" cy="36109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C5EBB3-3B48-5BC0-5C85-8B48EA30BF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2289" y="2207133"/>
            <a:ext cx="5027167" cy="312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31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12529-73F0-B066-5D96-B97511D9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135993-42C5-F019-3360-6786E098F489}"/>
              </a:ext>
            </a:extLst>
          </p:cNvPr>
          <p:cNvSpPr/>
          <p:nvPr/>
        </p:nvSpPr>
        <p:spPr>
          <a:xfrm>
            <a:off x="449264" y="357026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ED359990-6CB6-6B51-606D-4F74E0D4F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B33C5A-93FB-1ADA-38AF-4E31C9012B3D}"/>
              </a:ext>
            </a:extLst>
          </p:cNvPr>
          <p:cNvSpPr txBox="1"/>
          <p:nvPr/>
        </p:nvSpPr>
        <p:spPr>
          <a:xfrm>
            <a:off x="2429264" y="339308"/>
            <a:ext cx="356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CLASSIFICATION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1C380F-48F4-789A-5F92-C464063DDC4F}"/>
              </a:ext>
            </a:extLst>
          </p:cNvPr>
          <p:cNvSpPr txBox="1"/>
          <p:nvPr/>
        </p:nvSpPr>
        <p:spPr>
          <a:xfrm>
            <a:off x="7353299" y="2337950"/>
            <a:ext cx="44257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chemeClr val="accent6">
                    <a:lumMod val="50000"/>
                  </a:schemeClr>
                </a:solidFill>
              </a:rPr>
              <a:t>After geotagging, the images/frames are then classified using YOLO model. </a:t>
            </a:r>
          </a:p>
        </p:txBody>
      </p:sp>
      <p:pic>
        <p:nvPicPr>
          <p:cNvPr id="3" name="Graphic 2" descr="Artificial Intelligence with solid fill">
            <a:extLst>
              <a:ext uri="{FF2B5EF4-FFF2-40B4-BE49-F238E27FC236}">
                <a16:creationId xmlns:a16="http://schemas.microsoft.com/office/drawing/2014/main" id="{D09DEE29-DD22-CD44-2D96-03F259F72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64" y="537026"/>
            <a:ext cx="1080000" cy="108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C2175A-1CAC-388B-C3EF-B6DC2A51A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57" y="2254126"/>
            <a:ext cx="6479699" cy="398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35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5FE9-F947-603B-DA29-424CD770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00AF1E-7FF5-4B0B-A53F-01F44BCF2D83}"/>
              </a:ext>
            </a:extLst>
          </p:cNvPr>
          <p:cNvSpPr/>
          <p:nvPr/>
        </p:nvSpPr>
        <p:spPr>
          <a:xfrm>
            <a:off x="449264" y="357026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16AD55C6-0946-1F22-08CA-C2C606FA5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016E1B-0ABE-2335-C8E7-EB5C03F25E49}"/>
              </a:ext>
            </a:extLst>
          </p:cNvPr>
          <p:cNvSpPr txBox="1"/>
          <p:nvPr/>
        </p:nvSpPr>
        <p:spPr>
          <a:xfrm>
            <a:off x="2429264" y="339308"/>
            <a:ext cx="356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CLASSIFICATION</a:t>
            </a:r>
          </a:p>
        </p:txBody>
      </p:sp>
      <p:pic>
        <p:nvPicPr>
          <p:cNvPr id="3" name="Graphic 2" descr="Artificial Intelligence with solid fill">
            <a:extLst>
              <a:ext uri="{FF2B5EF4-FFF2-40B4-BE49-F238E27FC236}">
                <a16:creationId xmlns:a16="http://schemas.microsoft.com/office/drawing/2014/main" id="{9D34F5CA-74E2-FF0F-4413-AD5CC1C401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64" y="537026"/>
            <a:ext cx="1080000" cy="10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BE2981-2D33-C7C7-1482-F652EC0B3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92" y="2098108"/>
            <a:ext cx="768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5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CDEA8-EB66-182E-6DB5-98202D5B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4018A4-8E0C-86DE-5729-0507AE26E9CD}"/>
              </a:ext>
            </a:extLst>
          </p:cNvPr>
          <p:cNvSpPr/>
          <p:nvPr/>
        </p:nvSpPr>
        <p:spPr>
          <a:xfrm>
            <a:off x="449264" y="357026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5C2F2521-7976-9564-FB52-A43DEB3B2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FF73CD-9503-664A-3B1D-16B21FB56558}"/>
              </a:ext>
            </a:extLst>
          </p:cNvPr>
          <p:cNvSpPr txBox="1"/>
          <p:nvPr/>
        </p:nvSpPr>
        <p:spPr>
          <a:xfrm>
            <a:off x="2429264" y="339308"/>
            <a:ext cx="356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CLASSIFICATION</a:t>
            </a:r>
          </a:p>
        </p:txBody>
      </p:sp>
      <p:pic>
        <p:nvPicPr>
          <p:cNvPr id="3" name="Graphic 2" descr="Artificial Intelligence with solid fill">
            <a:extLst>
              <a:ext uri="{FF2B5EF4-FFF2-40B4-BE49-F238E27FC236}">
                <a16:creationId xmlns:a16="http://schemas.microsoft.com/office/drawing/2014/main" id="{DDE07D41-4022-A252-591C-74581CE77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64" y="537026"/>
            <a:ext cx="1080000" cy="10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A952BE-3BA1-1737-3FC8-7BE3ACF1F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9192" y="2098108"/>
            <a:ext cx="768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48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D371-D398-FD45-7E18-602A9C2E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52A034-0109-2DD5-8998-53F3DF88068E}"/>
              </a:ext>
            </a:extLst>
          </p:cNvPr>
          <p:cNvSpPr/>
          <p:nvPr/>
        </p:nvSpPr>
        <p:spPr>
          <a:xfrm>
            <a:off x="449264" y="357026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DAEE210C-A584-45FD-FBDF-14D54343C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264" y="3219098"/>
            <a:ext cx="1440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A3A907-B587-B067-6416-BD23B70E3812}"/>
              </a:ext>
            </a:extLst>
          </p:cNvPr>
          <p:cNvSpPr txBox="1"/>
          <p:nvPr/>
        </p:nvSpPr>
        <p:spPr>
          <a:xfrm>
            <a:off x="2429264" y="339308"/>
            <a:ext cx="356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CLASSIFICATION</a:t>
            </a:r>
          </a:p>
        </p:txBody>
      </p:sp>
      <p:pic>
        <p:nvPicPr>
          <p:cNvPr id="3" name="Graphic 2" descr="Artificial Intelligence with solid fill">
            <a:extLst>
              <a:ext uri="{FF2B5EF4-FFF2-40B4-BE49-F238E27FC236}">
                <a16:creationId xmlns:a16="http://schemas.microsoft.com/office/drawing/2014/main" id="{81AED7EC-2CE2-A5B6-C4E6-8B7039511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64" y="537026"/>
            <a:ext cx="1080000" cy="10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2B3498-19F0-E02D-711B-3DB711B64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927" y="1977026"/>
            <a:ext cx="6558769" cy="35152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88031F-0DD1-50B8-EBAE-0F63F985E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714479"/>
            <a:ext cx="5541264" cy="370224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E82933-08D6-2535-DABE-108F007D5D63}"/>
              </a:ext>
            </a:extLst>
          </p:cNvPr>
          <p:cNvSpPr/>
          <p:nvPr/>
        </p:nvSpPr>
        <p:spPr>
          <a:xfrm>
            <a:off x="7370064" y="3128017"/>
            <a:ext cx="731520" cy="3062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6546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117</Words>
  <Application>Microsoft Office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Segoe UI</vt:lpstr>
      <vt:lpstr>Office Theme</vt:lpstr>
      <vt:lpstr>Fieldwork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Candido</dc:creator>
  <cp:lastModifiedBy>Christian Candido</cp:lastModifiedBy>
  <cp:revision>1</cp:revision>
  <dcterms:created xsi:type="dcterms:W3CDTF">2026-02-09T22:42:06Z</dcterms:created>
  <dcterms:modified xsi:type="dcterms:W3CDTF">2026-02-09T23:37:27Z</dcterms:modified>
</cp:coreProperties>
</file>